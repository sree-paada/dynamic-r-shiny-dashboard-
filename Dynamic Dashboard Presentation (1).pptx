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embeddedFontLst>
    <p:embeddedFont>
      <p:font typeface="PT Sans Narrow"/>
      <p:regular r:id="rId21"/>
      <p:bold r:id="rId22"/>
    </p:embeddedFont>
    <p:embeddedFont>
      <p:font typeface="Open Sans"/>
      <p:regular r:id="rId23"/>
      <p:bold r:id="rId24"/>
      <p:italic r:id="rId25"/>
      <p:boldItalic r:id="rId26"/>
    </p:embeddedFont>
    <p:embeddedFont>
      <p:font typeface="Century Gothic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TSansNarrow-bold.fntdata"/><Relationship Id="rId21" Type="http://schemas.openxmlformats.org/officeDocument/2006/relationships/font" Target="fonts/PTSansNarrow-regular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28" Type="http://schemas.openxmlformats.org/officeDocument/2006/relationships/font" Target="fonts/CenturyGothic-bold.fntdata"/><Relationship Id="rId27" Type="http://schemas.openxmlformats.org/officeDocument/2006/relationships/font" Target="fonts/CenturyGothic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Gothic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CenturyGothic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4b4354bb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4b4354b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35af63fb2_0_2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35af63fb2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4b4354bb7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4b4354bb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4b4354bb7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4b4354bb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758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Line chart for total medals over last 5 Summer Paralympics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758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An evaluation based on medal count reveals the top ten Non-Permanent Members of the Committee.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758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CHN along with USA have demonstrated stable or increasing medal performance throughout the past five Summer Paralympics.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758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The competition results for various NPCs display irregular patterns.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758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Internal data about medal strategies together with financial investments become observable through specific insights.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Bar chart visuals display Gold Silver and Bronze medals separately per National Personnel Committee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The comparison of top 10 NPCs through five different games exists in the data set.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The visualization tool gives us knowledge about performance quality.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NPCs bearing more gold medals display higher dominance positions at the elite level.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The medal type distribution helps organizations understand their strength areas.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72618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Open Sans"/>
              <a:buChar char="●"/>
            </a:pPr>
            <a:r>
              <a:t/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758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The area plot illustrates regional group-based participation rate shifts from one time interval to another.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758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The sports participation sector organizes itself through Athletics paired with Swimming and Powerlifting which collaborate with Cycling as a subdiscipline set.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758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- Europe and Asia show high and rising involvement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758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 population advances its infrastructure while allocating financial resources through this phenomenon.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758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- Insight: Regional prioritization of endurance sports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Bubble plot of sports by region with medal count as size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Shows sport-specific regional dominance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E.g., Swimming in Asia, Athletics in North America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The size of bubbles demonstrates specific sports strength for each participating regional group.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440"/>
              <a:buFont typeface="Open Sans"/>
              <a:buChar char="●"/>
            </a:pPr>
            <a:r>
              <a:rPr lang="en-US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The company exhibits clear strategic focus for particular regions through its business operations.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2618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Open Sans"/>
              <a:buChar char="●"/>
            </a:pPr>
            <a:r>
              <a:t/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4b4354bb7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4b4354bb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4235850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421100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362666"/>
            <a:ext cx="7136668" cy="203195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5292001"/>
            <a:ext cx="7136668" cy="203195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2335685"/>
            <a:ext cx="7136700" cy="13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3800052"/>
            <a:ext cx="48705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3429200"/>
            <a:ext cx="91440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1086400"/>
            <a:ext cx="8571300" cy="12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688233"/>
            <a:ext cx="3999900" cy="4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688233"/>
            <a:ext cx="3999900" cy="4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701800"/>
            <a:ext cx="56136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386233"/>
            <a:ext cx="4045200" cy="223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36358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56409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739800"/>
            <a:ext cx="85206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3994200"/>
            <a:ext cx="85206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65970" y="927098"/>
            <a:ext cx="63438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64382" y="2489200"/>
            <a:ext cx="6345300" cy="3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7574443" y="6365498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590843" y="6365497"/>
            <a:ext cx="385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7678616" y="295730"/>
            <a:ext cx="7914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14.png"/><Relationship Id="rId7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github.com/INFO526-SP25/project-2-data-decoders" TargetMode="External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778250" y="1851025"/>
            <a:ext cx="78795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 sz="7500"/>
              <a:t>DYNAMIC SHINY DASHBOARD</a:t>
            </a:r>
            <a:endParaRPr sz="7500"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6197900" y="3684350"/>
            <a:ext cx="3237900" cy="30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FF"/>
                </a:solidFill>
              </a:rPr>
              <a:t>Instructor</a:t>
            </a:r>
            <a:endParaRPr b="1" sz="14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/>
              <a:t>Dr. Anna Leach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FF"/>
                </a:solidFill>
              </a:rPr>
              <a:t>Team Data Decoders</a:t>
            </a:r>
            <a:endParaRPr b="1" sz="14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/>
              <a:t>Usha Goud Gourigari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/>
              <a:t>Ankitha Namala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/>
              <a:t>Sree Paada Reddy Pallikila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/>
              <a:t>Abhiram Varma Nandimandalam</a:t>
            </a:r>
            <a:endParaRPr sz="1400"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8" name="Google Shape;7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53975" y="3919900"/>
            <a:ext cx="2001000" cy="1286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865970" y="927098"/>
            <a:ext cx="6343800" cy="70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864375" y="1865500"/>
            <a:ext cx="7980900" cy="438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Overview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Problem &amp; Curiosity Explored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Dataset Summary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How did we Explore it?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Dashboard Capabilities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Preprocessing Features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Question 1: Medal Trends and Composition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Question 2: High Endurance Sports Domination and Participation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Paralympic Dashboard Interface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Advantages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Challenges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Conclusion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0013" y="1865500"/>
            <a:ext cx="1643276" cy="164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865970" y="927098"/>
            <a:ext cx="6343800" cy="70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865223" y="2108200"/>
            <a:ext cx="7940100" cy="416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The objective of this project is to develop an interactive dashboard using R Shiny to display Paralympic Games data.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Dataset: Comprehensive history of Paralympic Games.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Technology: R, Shiny, ggplot2, dplyr, tidyr.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Main Goal: Enable interactive, real-time exploratory data analysis.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Overview of Presentation Includes an Exploration of the Data Set and Visuals and Dashboard Abilities and Conclusion Findings.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7800" y="5155125"/>
            <a:ext cx="1473600" cy="14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865970" y="927098"/>
            <a:ext cx="6343800" cy="70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&amp; CURIOSITY EXPLORED</a:t>
            </a:r>
            <a:endParaRPr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865975" y="2072050"/>
            <a:ext cx="7272000" cy="119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Can we build a flexible, reusable dashboarding tool that </a:t>
            </a:r>
            <a:r>
              <a:rPr b="1" lang="en-US">
                <a:solidFill>
                  <a:srgbClr val="0000FF"/>
                </a:solidFill>
              </a:rPr>
              <a:t>e</a:t>
            </a:r>
            <a:r>
              <a:rPr b="1" lang="en-US">
                <a:solidFill>
                  <a:srgbClr val="0000FF"/>
                </a:solidFill>
              </a:rPr>
              <a:t>nables students to visualize different aspects of a dataset without hardcoding everything?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8688" y="4121125"/>
            <a:ext cx="2286625" cy="228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/>
              <a:t>DATASET SUMMARY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865973" y="2345750"/>
            <a:ext cx="8067900" cy="4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758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Dataset Used: Paralympic Dataset (DataDNA </a:t>
            </a:r>
            <a:r>
              <a:rPr lang="en-US"/>
              <a:t>Challenge</a:t>
            </a:r>
            <a:r>
              <a:rPr lang="en-US"/>
              <a:t> - </a:t>
            </a:r>
            <a:r>
              <a:rPr lang="en-US"/>
              <a:t>September</a:t>
            </a:r>
            <a:r>
              <a:rPr lang="en-US"/>
              <a:t> 2024).</a:t>
            </a:r>
            <a:endParaRPr/>
          </a:p>
          <a:p>
            <a:pPr indent="-349758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The information about National Paralympic Committees appears under "npc_new" (country codes).</a:t>
            </a:r>
            <a:endParaRPr/>
          </a:p>
          <a:p>
            <a:pPr indent="-349758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games_year and games_season: Track event years and seasons.</a:t>
            </a:r>
            <a:endParaRPr/>
          </a:p>
          <a:p>
            <a:pPr indent="-349758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Each record contains information about  three types of medals which comprise of Gold, Silver and Bronze records..</a:t>
            </a:r>
            <a:endParaRPr/>
          </a:p>
          <a:p>
            <a:pPr indent="-349758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The name of field competitors remains missing from this record.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1996" y="348575"/>
            <a:ext cx="1609332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865970" y="927098"/>
            <a:ext cx="6343800" cy="70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DID WE EXPLORE IT?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864373" y="2021425"/>
            <a:ext cx="7909200" cy="399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Developed R script that accepts user-supplied raw data, data transformation code, visualization codes and filter fields.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Internally, we checked for missing/ null data, outlier </a:t>
            </a:r>
            <a:r>
              <a:rPr lang="en-US"/>
              <a:t>information</a:t>
            </a:r>
            <a:r>
              <a:rPr lang="en-US"/>
              <a:t> and duplicate records.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We constructed 2-tab Shiny dashboard embedding the supplied code for data and plots and filter widgets.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This provides us with a </a:t>
            </a:r>
            <a:r>
              <a:rPr lang="en-US"/>
              <a:t>repeatable</a:t>
            </a:r>
            <a:r>
              <a:rPr lang="en-US"/>
              <a:t> pipeline to explore different perspectives and patterns in the data.</a:t>
            </a:r>
            <a:endParaRPr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1150" y="4769450"/>
            <a:ext cx="2001000" cy="200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/>
              <a:t>DASHBOARD CAPABILITIES</a:t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864373" y="2351625"/>
            <a:ext cx="7877400" cy="3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An immediate analytical process analyzes datasets which users upload to the system.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Interactive filters.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Supports any user-uploaded  data (which is supported by RStudio).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The graphical user interface elements adjust automatically after the data structure changes.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The visual output features a complete set of visualisations and filters provided by the user along with our preprocessing steps.</a:t>
            </a:r>
            <a:endParaRPr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4" name="Google Shape;14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06550" y="471550"/>
            <a:ext cx="1779250" cy="177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/>
              <a:t>PREPROCESSING FEATURES</a:t>
            </a:r>
            <a:endParaRPr/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864373" y="2180175"/>
            <a:ext cx="8036100" cy="3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The system has automated capabilities to delete null and duplicate entries.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A numeric threshold system serves for detecting outlier values.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Users can trigger the preprocessing functions by using the interface.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The system enables users to turn on/ off preprocessing through an interactive display.</a:t>
            </a:r>
            <a:endParaRPr/>
          </a:p>
        </p:txBody>
      </p: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5" name="Google Shape;15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4710" y="4399875"/>
            <a:ext cx="2095425" cy="20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865976" y="927100"/>
            <a:ext cx="79392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/>
              <a:t>QUESTION 1</a:t>
            </a:r>
            <a:r>
              <a:rPr lang="en-US" sz="3200"/>
              <a:t>: </a:t>
            </a:r>
            <a:r>
              <a:rPr lang="en-US"/>
              <a:t>MEDAL TRENDS AND COMPOSITION</a:t>
            </a:r>
            <a:endParaRPr/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5" name="Google Shape;16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50" y="2331275"/>
            <a:ext cx="4440451" cy="2745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22"/>
          <p:cNvGrpSpPr/>
          <p:nvPr/>
        </p:nvGrpSpPr>
        <p:grpSpPr>
          <a:xfrm>
            <a:off x="4648200" y="2311500"/>
            <a:ext cx="4440450" cy="2745876"/>
            <a:chOff x="4648200" y="2311500"/>
            <a:chExt cx="4440450" cy="2745876"/>
          </a:xfrm>
        </p:grpSpPr>
        <p:pic>
          <p:nvPicPr>
            <p:cNvPr id="167" name="Google Shape;167;p2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648200" y="2311500"/>
              <a:ext cx="4440450" cy="2745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2"/>
            <p:cNvSpPr/>
            <p:nvPr/>
          </p:nvSpPr>
          <p:spPr>
            <a:xfrm>
              <a:off x="7719600" y="4502750"/>
              <a:ext cx="1188300" cy="498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582075" y="927100"/>
            <a:ext cx="83502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/>
              <a:t>QUESTION </a:t>
            </a:r>
            <a:r>
              <a:rPr lang="en-US" sz="3200"/>
              <a:t>2: </a:t>
            </a:r>
            <a:r>
              <a:rPr lang="en-US"/>
              <a:t>HIGH ENDURANCE SPORTS DOMINATION AND PARTICIPATION</a:t>
            </a:r>
            <a:endParaRPr/>
          </a:p>
        </p:txBody>
      </p:sp>
      <p:sp>
        <p:nvSpPr>
          <p:cNvPr id="174" name="Google Shape;174;p23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175" name="Google Shape;1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8" name="Google Shape;17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8200" y="2390225"/>
            <a:ext cx="4278826" cy="264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1550" y="2370263"/>
            <a:ext cx="4343400" cy="2685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/>
              <a:t>PARALYMPIC DASHBOARD INTERFACE</a:t>
            </a:r>
            <a:endParaRPr/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864373" y="2453225"/>
            <a:ext cx="7877400" cy="3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The application was constructed through R Shiny to ensure its responsive behavior.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The application allows users to select from four options: year, sport, country and season.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The system displays interactive charts that update their visualization data as users provide new input.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The application displays important metrics through summary boxes.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Clean layout with minimal theme.</a:t>
            </a:r>
            <a:endParaRPr/>
          </a:p>
        </p:txBody>
      </p:sp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187" name="Google Shape;1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0" name="Google Shape;19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4425" y="927100"/>
            <a:ext cx="1609300" cy="160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/>
              <a:t>ADVANTAGES</a:t>
            </a:r>
            <a:endParaRPr/>
          </a:p>
        </p:txBody>
      </p:sp>
      <p:sp>
        <p:nvSpPr>
          <p:cNvPr id="196" name="Google Shape;196;p25"/>
          <p:cNvSpPr txBox="1"/>
          <p:nvPr>
            <p:ph idx="1" type="body"/>
          </p:nvPr>
        </p:nvSpPr>
        <p:spPr>
          <a:xfrm>
            <a:off x="864373" y="2084925"/>
            <a:ext cx="8279700" cy="3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The solution allows users to obtain valuable insights directly from raw datasets starting from their initial state.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No need for manual preprocessing.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Interactive features increase accessibility.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Supports both beginner and expert users.</a:t>
            </a:r>
            <a:endParaRPr/>
          </a:p>
        </p:txBody>
      </p:sp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198" name="Google Shape;19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1" name="Google Shape;20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20075" y="4248900"/>
            <a:ext cx="2286001" cy="228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/>
              <a:t>CHALLENGES</a:t>
            </a:r>
            <a:endParaRPr/>
          </a:p>
        </p:txBody>
      </p:sp>
      <p:sp>
        <p:nvSpPr>
          <p:cNvPr id="207" name="Google Shape;207;p26"/>
          <p:cNvSpPr txBox="1"/>
          <p:nvPr>
            <p:ph idx="1" type="body"/>
          </p:nvPr>
        </p:nvSpPr>
        <p:spPr>
          <a:xfrm>
            <a:off x="864373" y="2053175"/>
            <a:ext cx="78774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758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Debugging dashboard crashes.</a:t>
            </a:r>
            <a:endParaRPr/>
          </a:p>
          <a:p>
            <a:pPr indent="-349758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Passing plots and data </a:t>
            </a:r>
            <a:r>
              <a:rPr lang="en-US"/>
              <a:t>transformation</a:t>
            </a:r>
            <a:r>
              <a:rPr lang="en-US"/>
              <a:t> codes dynamically.</a:t>
            </a:r>
            <a:endParaRPr/>
          </a:p>
          <a:p>
            <a:pPr indent="-349758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Renaming filter labels.</a:t>
            </a:r>
            <a:endParaRPr/>
          </a:p>
          <a:p>
            <a:pPr indent="-349758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Using complex plots.</a:t>
            </a:r>
            <a:endParaRPr/>
          </a:p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209" name="Google Shape;20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2" name="Google Shape;212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8525" y="3429000"/>
            <a:ext cx="3060750" cy="306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864373" y="2116675"/>
            <a:ext cx="7750500" cy="3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We </a:t>
            </a:r>
            <a:r>
              <a:rPr lang="en-US"/>
              <a:t>built</a:t>
            </a:r>
            <a:r>
              <a:rPr lang="en-US"/>
              <a:t> a tool not only to explore our </a:t>
            </a:r>
            <a:r>
              <a:rPr lang="en-US"/>
              <a:t>dataset</a:t>
            </a:r>
            <a:r>
              <a:rPr lang="en-US"/>
              <a:t> but also to empower others to answer and explore their data.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This could benefit INFO 526 </a:t>
            </a:r>
            <a:r>
              <a:rPr lang="en-US"/>
              <a:t>students</a:t>
            </a:r>
            <a:r>
              <a:rPr lang="en-US"/>
              <a:t> in future semesters </a:t>
            </a:r>
            <a:r>
              <a:rPr lang="en-US"/>
              <a:t>especially</a:t>
            </a:r>
            <a:r>
              <a:rPr lang="en-US"/>
              <a:t> during Project 1 when they are not exposed to R Shiny Dashboard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It also helps to work with messy data.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220" name="Google Shape;2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7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3" name="Google Shape;22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4725" y="4315850"/>
            <a:ext cx="2112300" cy="21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>
            <p:ph type="title"/>
          </p:nvPr>
        </p:nvSpPr>
        <p:spPr>
          <a:xfrm>
            <a:off x="2394145" y="3438673"/>
            <a:ext cx="6343800" cy="70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THANK YOU!!!</a:t>
            </a:r>
            <a:endParaRPr sz="6000"/>
          </a:p>
        </p:txBody>
      </p:sp>
      <p:sp>
        <p:nvSpPr>
          <p:cNvPr id="229" name="Google Shape;229;p28"/>
          <p:cNvSpPr txBox="1"/>
          <p:nvPr>
            <p:ph idx="1" type="body"/>
          </p:nvPr>
        </p:nvSpPr>
        <p:spPr>
          <a:xfrm>
            <a:off x="2798707" y="4243875"/>
            <a:ext cx="6345300" cy="3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QUESTIONS ARE WELCOME</a:t>
            </a:r>
            <a:endParaRPr b="1"/>
          </a:p>
        </p:txBody>
      </p:sp>
      <p:sp>
        <p:nvSpPr>
          <p:cNvPr id="230" name="Google Shape;230;p28"/>
          <p:cNvSpPr txBox="1"/>
          <p:nvPr>
            <p:ph idx="1" type="body"/>
          </p:nvPr>
        </p:nvSpPr>
        <p:spPr>
          <a:xfrm>
            <a:off x="1395000" y="5038750"/>
            <a:ext cx="8037300" cy="70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AAAAAAND LET’S GO HAVE A LOOK AT OUR DASHBOARD :)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31" name="Google Shape;231;p28"/>
          <p:cNvSpPr txBox="1"/>
          <p:nvPr>
            <p:ph idx="1" type="body"/>
          </p:nvPr>
        </p:nvSpPr>
        <p:spPr>
          <a:xfrm>
            <a:off x="7434250" y="166750"/>
            <a:ext cx="1473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May 5, 2025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232" name="Google Shape;2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9050" y="166750"/>
            <a:ext cx="325199" cy="3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50" y="6407750"/>
            <a:ext cx="325201" cy="3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8"/>
          <p:cNvSpPr txBox="1"/>
          <p:nvPr/>
        </p:nvSpPr>
        <p:spPr>
          <a:xfrm>
            <a:off x="456750" y="6370250"/>
            <a:ext cx="2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Decoders</a:t>
            </a:r>
            <a:endParaRPr b="1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5" name="Google Shape;235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1700" y="415725"/>
            <a:ext cx="2481000" cy="24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